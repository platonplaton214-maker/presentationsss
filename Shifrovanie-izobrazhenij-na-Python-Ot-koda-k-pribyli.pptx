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IBM Plex Sans Medium" panose="020F0502020204030204" pitchFamily="34" charset="0"/>
      <p:regular r:id="rId17"/>
    </p:embeddedFont>
    <p:embeddedFont>
      <p:font typeface="Roboto" panose="02000000000000000000" pitchFamily="2" charset="0"/>
      <p:regular r:id="rId18"/>
      <p:bold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C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39" d="100"/>
          <a:sy n="39" d="100"/>
        </p:scale>
        <p:origin x="101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8699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88" y="425172"/>
            <a:ext cx="4919424" cy="73791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00099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Шифрование изображений на Python: От кода к прибыли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516659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Шкурин Платон, Группа ИП-63</a:t>
            </a:r>
            <a:endParaRPr lang="en-US" sz="175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4694042-B161-DCB2-0CA2-6E95E06BE70E}"/>
              </a:ext>
            </a:extLst>
          </p:cNvPr>
          <p:cNvSpPr/>
          <p:nvPr/>
        </p:nvSpPr>
        <p:spPr>
          <a:xfrm>
            <a:off x="12417137" y="7242464"/>
            <a:ext cx="2067791" cy="914400"/>
          </a:xfrm>
          <a:prstGeom prst="rect">
            <a:avLst/>
          </a:prstGeom>
          <a:solidFill>
            <a:srgbClr val="292C32"/>
          </a:solidFill>
          <a:ln>
            <a:solidFill>
              <a:srgbClr val="292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0811" y="605552"/>
            <a:ext cx="12300823" cy="688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Как это работает: Магия Python и шифрования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70811" y="3457456"/>
            <a:ext cx="3303508" cy="4129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Суть проекта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0811" y="4084082"/>
            <a:ext cx="4231838" cy="1735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Создание скрипта на Python, который позволяет пользователям шифровать и дешифровать изображения с помощью симметричного шифрования и перемешивания пикселей.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479" y="1854875"/>
            <a:ext cx="8319611" cy="5546408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3C0FED1-FAC5-B305-AE2F-27109BD65525}"/>
              </a:ext>
            </a:extLst>
          </p:cNvPr>
          <p:cNvSpPr/>
          <p:nvPr/>
        </p:nvSpPr>
        <p:spPr>
          <a:xfrm>
            <a:off x="12417137" y="7242464"/>
            <a:ext cx="2067791" cy="914400"/>
          </a:xfrm>
          <a:prstGeom prst="rect">
            <a:avLst/>
          </a:prstGeom>
          <a:solidFill>
            <a:srgbClr val="292C32"/>
          </a:solidFill>
          <a:ln>
            <a:solidFill>
              <a:srgbClr val="292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62" y="350044"/>
            <a:ext cx="5019675" cy="75295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39815" y="738188"/>
            <a:ext cx="7837170" cy="1167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Что используется: Инструменты для успеха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6139815" y="2135743"/>
            <a:ext cx="7837170" cy="1726883"/>
          </a:xfrm>
          <a:prstGeom prst="roundRect">
            <a:avLst>
              <a:gd name="adj" fmla="val 6354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2"/>
          <p:cNvSpPr/>
          <p:nvPr/>
        </p:nvSpPr>
        <p:spPr>
          <a:xfrm>
            <a:off x="6116955" y="2135743"/>
            <a:ext cx="91440" cy="1726883"/>
          </a:xfrm>
          <a:prstGeom prst="roundRect">
            <a:avLst>
              <a:gd name="adj" fmla="val 30630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6417945" y="2345293"/>
            <a:ext cx="3031331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Программное обеспечение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17945" y="2729151"/>
            <a:ext cx="7349490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3.x — современная версия языка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IDE: PyCharm, VS Code или другая среда разработки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Установка библиотек через pip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139815" y="4016216"/>
            <a:ext cx="7837170" cy="1974294"/>
          </a:xfrm>
          <a:prstGeom prst="roundRect">
            <a:avLst>
              <a:gd name="adj" fmla="val 5558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Shape 6"/>
          <p:cNvSpPr/>
          <p:nvPr/>
        </p:nvSpPr>
        <p:spPr>
          <a:xfrm>
            <a:off x="6116955" y="4016216"/>
            <a:ext cx="91440" cy="1974294"/>
          </a:xfrm>
          <a:prstGeom prst="roundRect">
            <a:avLst>
              <a:gd name="adj" fmla="val 30630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6417945" y="4225766"/>
            <a:ext cx="2333863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Библиотеки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417945" y="4690348"/>
            <a:ext cx="7349490" cy="645557"/>
          </a:xfrm>
          <a:prstGeom prst="roundRect">
            <a:avLst>
              <a:gd name="adj" fmla="val 4339"/>
            </a:avLst>
          </a:prstGeom>
          <a:solidFill>
            <a:srgbClr val="36393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9"/>
          <p:cNvSpPr/>
          <p:nvPr/>
        </p:nvSpPr>
        <p:spPr>
          <a:xfrm>
            <a:off x="6408658" y="4690348"/>
            <a:ext cx="7368064" cy="645557"/>
          </a:xfrm>
          <a:prstGeom prst="roundRect">
            <a:avLst>
              <a:gd name="adj" fmla="val 4339"/>
            </a:avLst>
          </a:prstGeom>
          <a:solidFill>
            <a:srgbClr val="36393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6642021" y="4877038"/>
            <a:ext cx="6901339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Pillow cryptography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6417945" y="5508784"/>
            <a:ext cx="7349490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Дополнительные библиотеки по мере необходимости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139815" y="6144101"/>
            <a:ext cx="7837170" cy="1347311"/>
          </a:xfrm>
          <a:prstGeom prst="roundRect">
            <a:avLst>
              <a:gd name="adj" fmla="val 8144"/>
            </a:avLst>
          </a:prstGeom>
          <a:solidFill>
            <a:srgbClr val="292C32"/>
          </a:solidFill>
          <a:ln w="22860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3"/>
          <p:cNvSpPr/>
          <p:nvPr/>
        </p:nvSpPr>
        <p:spPr>
          <a:xfrm>
            <a:off x="6116955" y="6144101"/>
            <a:ext cx="91440" cy="1347311"/>
          </a:xfrm>
          <a:prstGeom prst="roundRect">
            <a:avLst>
              <a:gd name="adj" fmla="val 30630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6417945" y="6353651"/>
            <a:ext cx="2827377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Аппаратное обеспечение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417945" y="6737509"/>
            <a:ext cx="7349490" cy="544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Обычный персональный компьютер или ноутбук без специальных требований к производительности</a:t>
            </a:r>
            <a:endParaRPr lang="en-US" sz="145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9813607-F9DA-6DD3-1CD8-E72221E5A4BB}"/>
              </a:ext>
            </a:extLst>
          </p:cNvPr>
          <p:cNvSpPr/>
          <p:nvPr/>
        </p:nvSpPr>
        <p:spPr>
          <a:xfrm>
            <a:off x="12827924" y="7731236"/>
            <a:ext cx="1677785" cy="466758"/>
          </a:xfrm>
          <a:prstGeom prst="rect">
            <a:avLst/>
          </a:prstGeom>
          <a:solidFill>
            <a:srgbClr val="292C32"/>
          </a:solidFill>
          <a:ln>
            <a:solidFill>
              <a:srgbClr val="292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958" y="358378"/>
            <a:ext cx="5008483" cy="75127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55650" y="1175028"/>
            <a:ext cx="7763828" cy="597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Стартовый капитал: Первые шаги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6155650" y="2109907"/>
            <a:ext cx="3802023" cy="631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50"/>
              </a:lnSpc>
              <a:buNone/>
            </a:pPr>
            <a:r>
              <a:rPr lang="en-US" sz="4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1500₽</a:t>
            </a:r>
            <a:endParaRPr lang="en-US" sz="4950" dirty="0"/>
          </a:p>
        </p:txBody>
      </p:sp>
      <p:sp>
        <p:nvSpPr>
          <p:cNvPr id="5" name="Text 2"/>
          <p:cNvSpPr/>
          <p:nvPr/>
        </p:nvSpPr>
        <p:spPr>
          <a:xfrm>
            <a:off x="6861453" y="2957393"/>
            <a:ext cx="2390418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Еда на неделю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155650" y="3352919"/>
            <a:ext cx="3802023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159127" y="2109907"/>
            <a:ext cx="3802023" cy="631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50"/>
              </a:lnSpc>
              <a:buNone/>
            </a:pPr>
            <a:r>
              <a:rPr lang="en-US" sz="4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300₽</a:t>
            </a:r>
            <a:endParaRPr lang="en-US" sz="4950" dirty="0"/>
          </a:p>
        </p:txBody>
      </p:sp>
      <p:sp>
        <p:nvSpPr>
          <p:cNvPr id="8" name="Text 5"/>
          <p:cNvSpPr/>
          <p:nvPr/>
        </p:nvSpPr>
        <p:spPr>
          <a:xfrm>
            <a:off x="10864929" y="2957393"/>
            <a:ext cx="2390418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Электроэнергия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0159127" y="3352919"/>
            <a:ext cx="3802023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Еженедельное потребление на разработку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157329" y="4334828"/>
            <a:ext cx="3802023" cy="631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950"/>
              </a:lnSpc>
              <a:buNone/>
            </a:pPr>
            <a:r>
              <a:rPr lang="en-US" sz="49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1800₽</a:t>
            </a:r>
            <a:endParaRPr lang="en-US" sz="4950" dirty="0"/>
          </a:p>
        </p:txBody>
      </p:sp>
      <p:sp>
        <p:nvSpPr>
          <p:cNvPr id="11" name="Text 8"/>
          <p:cNvSpPr/>
          <p:nvPr/>
        </p:nvSpPr>
        <p:spPr>
          <a:xfrm>
            <a:off x="8863132" y="5182314"/>
            <a:ext cx="2390418" cy="2988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Итого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157329" y="5577840"/>
            <a:ext cx="3802023" cy="28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Приблизительный стартовый капитал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155650" y="6041112"/>
            <a:ext cx="7805499" cy="1013460"/>
          </a:xfrm>
          <a:prstGeom prst="roundRect">
            <a:avLst>
              <a:gd name="adj" fmla="val 2830"/>
            </a:avLst>
          </a:prstGeom>
          <a:solidFill>
            <a:srgbClr val="4D1F0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6865" y="6318409"/>
            <a:ext cx="238958" cy="19121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777038" y="6250067"/>
            <a:ext cx="6992898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Важно:</a:t>
            </a: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Основные затраты — </a:t>
            </a:r>
            <a:r>
              <a:rPr lang="en-US" sz="15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это</a:t>
            </a:r>
            <a:r>
              <a:rPr lang="ru-RU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500" dirty="0" err="1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время</a:t>
            </a: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 усилия на разработку и продвижение проекта</a:t>
            </a:r>
            <a:endParaRPr lang="en-US" sz="15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BD4B7616-BC9E-FC7B-45F3-E6E06E384B42}"/>
              </a:ext>
            </a:extLst>
          </p:cNvPr>
          <p:cNvSpPr/>
          <p:nvPr/>
        </p:nvSpPr>
        <p:spPr>
          <a:xfrm>
            <a:off x="12827924" y="7731236"/>
            <a:ext cx="1677785" cy="466758"/>
          </a:xfrm>
          <a:prstGeom prst="rect">
            <a:avLst/>
          </a:prstGeom>
          <a:solidFill>
            <a:srgbClr val="292C32"/>
          </a:solidFill>
          <a:ln>
            <a:solidFill>
              <a:srgbClr val="292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7840"/>
            <a:ext cx="1258466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Монетизация: Как заработать на шифровании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93595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45₽</a:t>
            </a:r>
            <a:endParaRPr lang="en-US" sz="5850" dirty="0"/>
          </a:p>
        </p:txBody>
      </p:sp>
      <p:sp>
        <p:nvSpPr>
          <p:cNvPr id="4" name="Text 2"/>
          <p:cNvSpPr/>
          <p:nvPr/>
        </p:nvSpPr>
        <p:spPr>
          <a:xfrm>
            <a:off x="1455420" y="31253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Цена за продажу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3615809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Средняя стоимость лицензии (40-50₽)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235893" y="2093595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ru-RU" sz="5850" dirty="0">
                <a:solidFill>
                  <a:srgbClr val="D4D4D1"/>
                </a:solidFill>
                <a:latin typeface="IBM Plex Sans Medium" pitchFamily="34" charset="0"/>
              </a:rPr>
              <a:t>20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5897523" y="31253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Продажи в неделю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35893" y="3615809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ru-RU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Примерный </a:t>
            </a:r>
            <a:r>
              <a:rPr lang="en-US" sz="1750" dirty="0" err="1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показатель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677995" y="2093595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ru-RU" sz="5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900</a:t>
            </a:r>
            <a:r>
              <a:rPr lang="en-US" sz="5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₽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10275808" y="3125391"/>
            <a:ext cx="29629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Еженедельный доход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77995" y="3615809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ru-RU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продаж × 45₽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3014782" y="4545687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ru-RU" sz="5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3</a:t>
            </a:r>
            <a:r>
              <a:rPr lang="en-US" sz="5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.6K₽</a:t>
            </a:r>
            <a:endParaRPr lang="en-US" sz="5850" dirty="0"/>
          </a:p>
        </p:txBody>
      </p:sp>
      <p:sp>
        <p:nvSpPr>
          <p:cNvPr id="13" name="Text 11"/>
          <p:cNvSpPr/>
          <p:nvPr/>
        </p:nvSpPr>
        <p:spPr>
          <a:xfrm>
            <a:off x="3676412" y="55774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Ежемесячный доход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014782" y="6067901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ru-RU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900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₽ × 4 недели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56884" y="4545687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43.2K₽</a:t>
            </a:r>
            <a:endParaRPr lang="en-US" sz="5850" dirty="0"/>
          </a:p>
        </p:txBody>
      </p:sp>
      <p:sp>
        <p:nvSpPr>
          <p:cNvPr id="16" name="Text 14"/>
          <p:cNvSpPr/>
          <p:nvPr/>
        </p:nvSpPr>
        <p:spPr>
          <a:xfrm>
            <a:off x="8118515" y="55774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Годовой доход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456884" y="6067901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ru-RU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.6K₽ × 12 месяцев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93790" y="668595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Это начальный этап. Масштабирование возможно за счет расширения функционала, создания более сложных алгоритмов или предложения услуг по индивидуальной разработке.</a:t>
            </a:r>
            <a:endParaRPr lang="en-US" sz="175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80AA1A6B-B204-225A-C3F9-483914D7B28B}"/>
              </a:ext>
            </a:extLst>
          </p:cNvPr>
          <p:cNvSpPr/>
          <p:nvPr/>
        </p:nvSpPr>
        <p:spPr>
          <a:xfrm>
            <a:off x="12827924" y="7731236"/>
            <a:ext cx="1677785" cy="466758"/>
          </a:xfrm>
          <a:prstGeom prst="rect">
            <a:avLst/>
          </a:prstGeom>
          <a:solidFill>
            <a:srgbClr val="292C32"/>
          </a:solidFill>
          <a:ln>
            <a:solidFill>
              <a:srgbClr val="292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77133"/>
            <a:ext cx="1141321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Основная аудитория: Кто будет покупать?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039541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890004"/>
            <a:ext cx="34067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Фотографы и дизайнеры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380423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Защита работ от несанкционированного использования и распространения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893" y="2039541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2890004"/>
            <a:ext cx="31145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Частные пользователи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3380423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Защита личных фотографий, семейных архивов и конфиденциальных документов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77995" y="2039541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28900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Малый бизнес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3380423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Защита изображений с коммерческой тайной и конфиденциальной информацией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92275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93790" y="5773222"/>
            <a:ext cx="36673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Студенты и исследователи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93790" y="6263640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Эксперименты с криптографией изображений и защита исследовательских данных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5893" y="4922758"/>
            <a:ext cx="566976" cy="56697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35893" y="5773222"/>
            <a:ext cx="39238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Люди, ценящие приватность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5235893" y="6263640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Дополнительный уровень защиты для цифровых изображений</a:t>
            </a:r>
            <a:endParaRPr lang="en-US" sz="175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7A4B704-73FF-6EFC-636D-CA20A9945DFC}"/>
              </a:ext>
            </a:extLst>
          </p:cNvPr>
          <p:cNvSpPr/>
          <p:nvPr/>
        </p:nvSpPr>
        <p:spPr>
          <a:xfrm>
            <a:off x="12827924" y="7731236"/>
            <a:ext cx="1677785" cy="466758"/>
          </a:xfrm>
          <a:prstGeom prst="rect">
            <a:avLst/>
          </a:prstGeom>
          <a:solidFill>
            <a:srgbClr val="292C32"/>
          </a:solidFill>
          <a:ln>
            <a:solidFill>
              <a:srgbClr val="292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957" y="343376"/>
            <a:ext cx="5028486" cy="75427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27671" y="1310759"/>
            <a:ext cx="7719774" cy="572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Сезонность: Когда будут покупать?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10046970" y="2105144"/>
            <a:ext cx="22860" cy="4382333"/>
          </a:xfrm>
          <a:prstGeom prst="roundRect">
            <a:avLst>
              <a:gd name="adj" fmla="val 120228"/>
            </a:avLst>
          </a:prstGeom>
          <a:solidFill>
            <a:srgbClr val="61646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2"/>
          <p:cNvSpPr/>
          <p:nvPr/>
        </p:nvSpPr>
        <p:spPr>
          <a:xfrm>
            <a:off x="9325570" y="2299811"/>
            <a:ext cx="549593" cy="22860"/>
          </a:xfrm>
          <a:prstGeom prst="roundRect">
            <a:avLst>
              <a:gd name="adj" fmla="val 120228"/>
            </a:avLst>
          </a:prstGeom>
          <a:solidFill>
            <a:srgbClr val="61646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3"/>
          <p:cNvSpPr/>
          <p:nvPr/>
        </p:nvSpPr>
        <p:spPr>
          <a:xfrm>
            <a:off x="9852303" y="2105144"/>
            <a:ext cx="412194" cy="412194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/>
          <p:nvPr/>
        </p:nvSpPr>
        <p:spPr>
          <a:xfrm>
            <a:off x="9921002" y="2139494"/>
            <a:ext cx="274796" cy="343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6852047" y="2168128"/>
            <a:ext cx="2290286" cy="286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Постоянный спрос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127671" y="2543175"/>
            <a:ext cx="3014663" cy="794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Низкая сезонность — потребность в защите данных существует круглый год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0241637" y="3328630"/>
            <a:ext cx="549593" cy="22860"/>
          </a:xfrm>
          <a:prstGeom prst="roundRect">
            <a:avLst>
              <a:gd name="adj" fmla="val 120228"/>
            </a:avLst>
          </a:prstGeom>
          <a:solidFill>
            <a:srgbClr val="61646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9852303" y="3133963"/>
            <a:ext cx="412194" cy="412194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9921002" y="3168313"/>
            <a:ext cx="274796" cy="343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2</a:t>
            </a:r>
            <a:endParaRPr lang="en-US" sz="2150" dirty="0"/>
          </a:p>
        </p:txBody>
      </p:sp>
      <p:sp>
        <p:nvSpPr>
          <p:cNvPr id="13" name="Text 10"/>
          <p:cNvSpPr/>
          <p:nvPr/>
        </p:nvSpPr>
        <p:spPr>
          <a:xfrm>
            <a:off x="10974467" y="3196947"/>
            <a:ext cx="3014663" cy="572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Пик 1: Отпуска и праздники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0974467" y="3858339"/>
            <a:ext cx="3014663" cy="794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Люди чаще делятся фотографиями и могут захотеть их защитить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9325570" y="4241006"/>
            <a:ext cx="549593" cy="22860"/>
          </a:xfrm>
          <a:prstGeom prst="roundRect">
            <a:avLst>
              <a:gd name="adj" fmla="val 120228"/>
            </a:avLst>
          </a:prstGeom>
          <a:solidFill>
            <a:srgbClr val="61646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Shape 13"/>
          <p:cNvSpPr/>
          <p:nvPr/>
        </p:nvSpPr>
        <p:spPr>
          <a:xfrm>
            <a:off x="9852303" y="4046339"/>
            <a:ext cx="412194" cy="412194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9921002" y="4080689"/>
            <a:ext cx="274796" cy="343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3</a:t>
            </a:r>
            <a:endParaRPr lang="en-US" sz="2150" dirty="0"/>
          </a:p>
        </p:txBody>
      </p:sp>
      <p:sp>
        <p:nvSpPr>
          <p:cNvPr id="18" name="Text 15"/>
          <p:cNvSpPr/>
          <p:nvPr/>
        </p:nvSpPr>
        <p:spPr>
          <a:xfrm>
            <a:off x="6127671" y="4109323"/>
            <a:ext cx="3014663" cy="572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Пик 2: Крупные распродажи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127671" y="4770715"/>
            <a:ext cx="3014663" cy="52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0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Перед акциями и скидками на программное обеспечение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10241637" y="5153382"/>
            <a:ext cx="549593" cy="22860"/>
          </a:xfrm>
          <a:prstGeom prst="roundRect">
            <a:avLst>
              <a:gd name="adj" fmla="val 120228"/>
            </a:avLst>
          </a:prstGeom>
          <a:solidFill>
            <a:srgbClr val="61646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Shape 18"/>
          <p:cNvSpPr/>
          <p:nvPr/>
        </p:nvSpPr>
        <p:spPr>
          <a:xfrm>
            <a:off x="9852303" y="4958715"/>
            <a:ext cx="412194" cy="412194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19"/>
          <p:cNvSpPr/>
          <p:nvPr/>
        </p:nvSpPr>
        <p:spPr>
          <a:xfrm>
            <a:off x="9921002" y="4993065"/>
            <a:ext cx="274796" cy="343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2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4</a:t>
            </a:r>
            <a:endParaRPr lang="en-US" sz="2150" dirty="0"/>
          </a:p>
        </p:txBody>
      </p:sp>
      <p:sp>
        <p:nvSpPr>
          <p:cNvPr id="23" name="Text 20"/>
          <p:cNvSpPr/>
          <p:nvPr/>
        </p:nvSpPr>
        <p:spPr>
          <a:xfrm>
            <a:off x="10974467" y="5021699"/>
            <a:ext cx="2397443" cy="286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Пик 3: Утечки данных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0974467" y="5396746"/>
            <a:ext cx="3014663" cy="52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Новости о утечках стимулируют интерес к безопасности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127671" y="6653927"/>
            <a:ext cx="7861459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Ключевой фактор:</a:t>
            </a: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Постоянный интерес к приватности и безопасности в цифровом мире.</a:t>
            </a:r>
            <a:endParaRPr lang="en-US" sz="1400"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7F0585B8-74D4-7940-188F-C15B20BCCDE3}"/>
              </a:ext>
            </a:extLst>
          </p:cNvPr>
          <p:cNvSpPr/>
          <p:nvPr/>
        </p:nvSpPr>
        <p:spPr>
          <a:xfrm>
            <a:off x="12827924" y="7731236"/>
            <a:ext cx="1677785" cy="466758"/>
          </a:xfrm>
          <a:prstGeom prst="rect">
            <a:avLst/>
          </a:prstGeom>
          <a:solidFill>
            <a:srgbClr val="292C32"/>
          </a:solidFill>
          <a:ln>
            <a:solidFill>
              <a:srgbClr val="292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0688" y="250031"/>
            <a:ext cx="5153025" cy="77295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6725" y="1390531"/>
            <a:ext cx="5131713" cy="416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 err="1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Преимуществ</a:t>
            </a:r>
            <a:r>
              <a:rPr lang="ru-RU" sz="26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а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66725" y="1924764"/>
            <a:ext cx="8210550" cy="1169789"/>
          </a:xfrm>
          <a:prstGeom prst="roundRect">
            <a:avLst>
              <a:gd name="adj" fmla="val 1710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2"/>
          <p:cNvSpPr/>
          <p:nvPr/>
        </p:nvSpPr>
        <p:spPr>
          <a:xfrm>
            <a:off x="600075" y="2058114"/>
            <a:ext cx="400050" cy="400050"/>
          </a:xfrm>
          <a:prstGeom prst="roundRect">
            <a:avLst>
              <a:gd name="adj" fmla="val 22854857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0089" y="2168128"/>
            <a:ext cx="180023" cy="1800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0075" y="2536508"/>
            <a:ext cx="1991678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Простота использования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00075" y="2791897"/>
            <a:ext cx="7943850" cy="169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Интуитивно понятный интерфейс, особенно с GUI, доступный даже новичкам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66725" y="3172897"/>
            <a:ext cx="8210550" cy="1169789"/>
          </a:xfrm>
          <a:prstGeom prst="roundRect">
            <a:avLst>
              <a:gd name="adj" fmla="val 1710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6"/>
          <p:cNvSpPr/>
          <p:nvPr/>
        </p:nvSpPr>
        <p:spPr>
          <a:xfrm>
            <a:off x="600075" y="3306247"/>
            <a:ext cx="400050" cy="400050"/>
          </a:xfrm>
          <a:prstGeom prst="roundRect">
            <a:avLst>
              <a:gd name="adj" fmla="val 22854857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0089" y="3416260"/>
            <a:ext cx="180023" cy="18002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0075" y="3784640"/>
            <a:ext cx="1666875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Доступность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00075" y="4040029"/>
            <a:ext cx="7943850" cy="169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Низкая стоимость делает его привлекательным для широкой аудитории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66725" y="4421029"/>
            <a:ext cx="8210550" cy="1169789"/>
          </a:xfrm>
          <a:prstGeom prst="roundRect">
            <a:avLst>
              <a:gd name="adj" fmla="val 1710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0"/>
          <p:cNvSpPr/>
          <p:nvPr/>
        </p:nvSpPr>
        <p:spPr>
          <a:xfrm>
            <a:off x="600075" y="4554379"/>
            <a:ext cx="400050" cy="400050"/>
          </a:xfrm>
          <a:prstGeom prst="roundRect">
            <a:avLst>
              <a:gd name="adj" fmla="val 22854857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0089" y="4664393"/>
            <a:ext cx="180023" cy="18002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00075" y="5032772"/>
            <a:ext cx="1666875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Эффективность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00075" y="5288161"/>
            <a:ext cx="7943850" cy="169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Обеспечивает базовый, но надежный уровень защиты изображений</a:t>
            </a:r>
            <a:endParaRPr lang="en-US" sz="1050" dirty="0"/>
          </a:p>
        </p:txBody>
      </p:sp>
      <p:sp>
        <p:nvSpPr>
          <p:cNvPr id="19" name="Shape 13"/>
          <p:cNvSpPr/>
          <p:nvPr/>
        </p:nvSpPr>
        <p:spPr>
          <a:xfrm>
            <a:off x="466725" y="5669161"/>
            <a:ext cx="8210550" cy="1169789"/>
          </a:xfrm>
          <a:prstGeom prst="roundRect">
            <a:avLst>
              <a:gd name="adj" fmla="val 1710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Shape 14"/>
          <p:cNvSpPr/>
          <p:nvPr/>
        </p:nvSpPr>
        <p:spPr>
          <a:xfrm>
            <a:off x="600075" y="5802511"/>
            <a:ext cx="400050" cy="400050"/>
          </a:xfrm>
          <a:prstGeom prst="roundRect">
            <a:avLst>
              <a:gd name="adj" fmla="val 22854857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0089" y="5912525"/>
            <a:ext cx="180023" cy="18002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00075" y="6280904"/>
            <a:ext cx="1666875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Гибкость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600075" y="6536293"/>
            <a:ext cx="7943850" cy="169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Возможность дальнейшего развития и добавления новых функций</a:t>
            </a:r>
            <a:endParaRPr lang="en-US" sz="1050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308D1107-6193-2E2E-A238-C09A2C8D2593}"/>
              </a:ext>
            </a:extLst>
          </p:cNvPr>
          <p:cNvSpPr/>
          <p:nvPr/>
        </p:nvSpPr>
        <p:spPr>
          <a:xfrm>
            <a:off x="12827924" y="7731236"/>
            <a:ext cx="1677785" cy="466758"/>
          </a:xfrm>
          <a:prstGeom prst="rect">
            <a:avLst/>
          </a:prstGeom>
          <a:solidFill>
            <a:srgbClr val="292C32"/>
          </a:solidFill>
          <a:ln>
            <a:solidFill>
              <a:srgbClr val="292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1071" y="609481"/>
            <a:ext cx="8060650" cy="576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Следующие шаги: Развитие проекта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135499" y="1762601"/>
            <a:ext cx="184428" cy="829985"/>
          </a:xfrm>
          <a:prstGeom prst="roundRect">
            <a:avLst>
              <a:gd name="adj" fmla="val 15003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951071" y="1641515"/>
            <a:ext cx="553403" cy="553403"/>
          </a:xfrm>
          <a:prstGeom prst="roundRect">
            <a:avLst>
              <a:gd name="adj" fmla="val 82616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9422" y="1779865"/>
            <a:ext cx="276701" cy="2767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54493" y="1670328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Доработка GUI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654493" y="2048589"/>
            <a:ext cx="12024836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Создание более привлекательного и функционального интерфейса с улучшенным пользовательским опытом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1412200" y="3019425"/>
            <a:ext cx="184428" cy="829985"/>
          </a:xfrm>
          <a:prstGeom prst="roundRect">
            <a:avLst>
              <a:gd name="adj" fmla="val 15003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6"/>
          <p:cNvSpPr/>
          <p:nvPr/>
        </p:nvSpPr>
        <p:spPr>
          <a:xfrm>
            <a:off x="1227773" y="2898338"/>
            <a:ext cx="553403" cy="553403"/>
          </a:xfrm>
          <a:prstGeom prst="roundRect">
            <a:avLst>
              <a:gd name="adj" fmla="val 82616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6123" y="3036689"/>
            <a:ext cx="276701" cy="27670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31194" y="2927152"/>
            <a:ext cx="2732961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Расширение алгоритмов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931194" y="3305413"/>
            <a:ext cx="11748135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Добавление поддержки других методов шифрования: AES, XOR с разными ключами, более сложные схемы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1688902" y="4276249"/>
            <a:ext cx="184428" cy="829985"/>
          </a:xfrm>
          <a:prstGeom prst="roundRect">
            <a:avLst>
              <a:gd name="adj" fmla="val 15003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Shape 10"/>
          <p:cNvSpPr/>
          <p:nvPr/>
        </p:nvSpPr>
        <p:spPr>
          <a:xfrm>
            <a:off x="1504474" y="4155162"/>
            <a:ext cx="553403" cy="553403"/>
          </a:xfrm>
          <a:prstGeom prst="roundRect">
            <a:avLst>
              <a:gd name="adj" fmla="val 82616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42824" y="4293513"/>
            <a:ext cx="276701" cy="27670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207895" y="4183975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Пакетная обработка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2207895" y="4562237"/>
            <a:ext cx="11471434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Возможность шифровать и дешифровать сразу несколько изображений одновременно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1965603" y="5533072"/>
            <a:ext cx="184428" cy="829985"/>
          </a:xfrm>
          <a:prstGeom prst="roundRect">
            <a:avLst>
              <a:gd name="adj" fmla="val 15003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Shape 14"/>
          <p:cNvSpPr/>
          <p:nvPr/>
        </p:nvSpPr>
        <p:spPr>
          <a:xfrm>
            <a:off x="1781175" y="5411986"/>
            <a:ext cx="553403" cy="553403"/>
          </a:xfrm>
          <a:prstGeom prst="roundRect">
            <a:avLst>
              <a:gd name="adj" fmla="val 82616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19526" y="5550337"/>
            <a:ext cx="276701" cy="27670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484596" y="5440799"/>
            <a:ext cx="2409706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Облачная интеграция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2484596" y="5819061"/>
            <a:ext cx="11194733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Синхронизация с облачными хранилищами для удобного доступа и защиты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1688902" y="6789896"/>
            <a:ext cx="184428" cy="829985"/>
          </a:xfrm>
          <a:prstGeom prst="roundRect">
            <a:avLst>
              <a:gd name="adj" fmla="val 15003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Shape 18"/>
          <p:cNvSpPr/>
          <p:nvPr/>
        </p:nvSpPr>
        <p:spPr>
          <a:xfrm>
            <a:off x="1504474" y="6668810"/>
            <a:ext cx="553403" cy="553403"/>
          </a:xfrm>
          <a:prstGeom prst="roundRect">
            <a:avLst>
              <a:gd name="adj" fmla="val 82616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42824" y="6807160"/>
            <a:ext cx="276701" cy="27670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2207895" y="6697623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Маркетинг</a:t>
            </a:r>
            <a:endParaRPr lang="en-US" sz="1800" dirty="0"/>
          </a:p>
        </p:txBody>
      </p:sp>
      <p:sp>
        <p:nvSpPr>
          <p:cNvPr id="27" name="Text 20"/>
          <p:cNvSpPr/>
          <p:nvPr/>
        </p:nvSpPr>
        <p:spPr>
          <a:xfrm>
            <a:off x="2207895" y="7075884"/>
            <a:ext cx="11471434" cy="26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Создание лендинга, продвижение в социальных сетях, сотрудничество с фото-сообществами</a:t>
            </a:r>
            <a:endParaRPr lang="en-US" sz="1450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7159302E-9E49-CC19-5F74-8F597BCA92AB}"/>
              </a:ext>
            </a:extLst>
          </p:cNvPr>
          <p:cNvSpPr/>
          <p:nvPr/>
        </p:nvSpPr>
        <p:spPr>
          <a:xfrm>
            <a:off x="12827924" y="7731236"/>
            <a:ext cx="1677785" cy="466758"/>
          </a:xfrm>
          <a:prstGeom prst="rect">
            <a:avLst/>
          </a:prstGeom>
          <a:solidFill>
            <a:srgbClr val="292C32"/>
          </a:solidFill>
          <a:ln>
            <a:solidFill>
              <a:srgbClr val="292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60351"/>
            <a:ext cx="89538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                      Спасибо за внимание!</a:t>
            </a:r>
            <a:endParaRPr lang="en-US" sz="4450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45C3CF4-F21A-97E4-C2EE-48FE099CB0A2}"/>
              </a:ext>
            </a:extLst>
          </p:cNvPr>
          <p:cNvSpPr/>
          <p:nvPr/>
        </p:nvSpPr>
        <p:spPr>
          <a:xfrm>
            <a:off x="12827924" y="7731236"/>
            <a:ext cx="1677785" cy="466758"/>
          </a:xfrm>
          <a:prstGeom prst="rect">
            <a:avLst/>
          </a:prstGeom>
          <a:solidFill>
            <a:srgbClr val="292C32"/>
          </a:solidFill>
          <a:ln>
            <a:solidFill>
              <a:srgbClr val="292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465</Words>
  <Application>Microsoft Office PowerPoint</Application>
  <PresentationFormat>Произвольный</PresentationFormat>
  <Paragraphs>98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Roboto</vt:lpstr>
      <vt:lpstr>IBM Plex Sans Medium</vt:lpstr>
      <vt:lpstr>Consolas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Unicum_Student</cp:lastModifiedBy>
  <cp:revision>3</cp:revision>
  <dcterms:created xsi:type="dcterms:W3CDTF">2026-04-06T11:48:39Z</dcterms:created>
  <dcterms:modified xsi:type="dcterms:W3CDTF">2026-04-23T10:14:33Z</dcterms:modified>
</cp:coreProperties>
</file>